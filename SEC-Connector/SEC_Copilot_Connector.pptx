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SEC Copilot Connector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Python-based Microsoft Graph Connector for SEC EDGAR Filings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Architecture &amp;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377440" cy="1097280"/>
          </a:xfrm>
          <a:prstGeom prst="roundRect">
            <a:avLst/>
          </a:prstGeom>
          <a:solidFill>
            <a:srgbClr val="4169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SEC EDGAR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10-K, 10-Q, 8-K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DEF 14A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914400"/>
            <a:ext cx="2377440" cy="1097280"/>
          </a:xfrm>
          <a:prstGeom prst="roundRect">
            <a:avLst/>
          </a:prstGeom>
          <a:solidFill>
            <a:srgbClr val="0078D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SEC Connector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Parse HTML -&gt; Markdown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Smart Chunking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State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914400"/>
            <a:ext cx="2377440" cy="1097280"/>
          </a:xfrm>
          <a:prstGeom prst="roundRect">
            <a:avLst/>
          </a:prstGeom>
          <a:solidFill>
            <a:srgbClr val="0064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MS Graph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External Items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Batch 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914400"/>
            <a:ext cx="2377440" cy="1097280"/>
          </a:xfrm>
          <a:prstGeom prst="roundRect">
            <a:avLst/>
          </a:prstGeom>
          <a:solidFill>
            <a:srgbClr val="9C27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M365 Copilot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Search &amp; Reason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1325880"/>
            <a:ext cx="365760" cy="228600"/>
          </a:xfrm>
          <a:prstGeom prst="right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6309360" y="1325880"/>
            <a:ext cx="365760" cy="228600"/>
          </a:xfrm>
          <a:prstGeom prst="right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9326880" y="1325880"/>
            <a:ext cx="365760" cy="228600"/>
          </a:xfrm>
          <a:prstGeom prst="rightArrow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Processing Pipeline</a:t>
            </a:r>
          </a:p>
        </p:txBody>
      </p:sp>
      <p:sp>
        <p:nvSpPr>
          <p:cNvPr id="11" name="Chevron 10"/>
          <p:cNvSpPr/>
          <p:nvPr/>
        </p:nvSpPr>
        <p:spPr>
          <a:xfrm>
            <a:off x="457200" y="2606040"/>
            <a:ext cx="2103120" cy="457200"/>
          </a:xfrm>
          <a:prstGeom prst="chevron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DISCOVER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1760" y="2606040"/>
            <a:ext cx="2103120" cy="457200"/>
          </a:xfrm>
          <a:prstGeom prst="chevron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DOWNLOAD</a:t>
            </a:r>
          </a:p>
        </p:txBody>
      </p:sp>
      <p:sp>
        <p:nvSpPr>
          <p:cNvPr id="13" name="Chevron 12"/>
          <p:cNvSpPr/>
          <p:nvPr/>
        </p:nvSpPr>
        <p:spPr>
          <a:xfrm>
            <a:off x="4846320" y="2606040"/>
            <a:ext cx="2103120" cy="457200"/>
          </a:xfrm>
          <a:prstGeom prst="chevron">
            <a:avLst/>
          </a:prstGeom>
          <a:solidFill>
            <a:srgbClr val="E67E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PARSE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0879" y="2606040"/>
            <a:ext cx="2103120" cy="457200"/>
          </a:xfrm>
          <a:prstGeom prst="chevron">
            <a:avLst/>
          </a:prstGeom>
          <a:solidFill>
            <a:srgbClr val="8E44A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CHUNK</a:t>
            </a:r>
          </a:p>
        </p:txBody>
      </p:sp>
      <p:sp>
        <p:nvSpPr>
          <p:cNvPr id="15" name="Chevron 14"/>
          <p:cNvSpPr/>
          <p:nvPr/>
        </p:nvSpPr>
        <p:spPr>
          <a:xfrm>
            <a:off x="9235440" y="2606040"/>
            <a:ext cx="2103120" cy="457200"/>
          </a:xfrm>
          <a:prstGeom prst="chevron">
            <a:avLst/>
          </a:prstGeom>
          <a:solidFill>
            <a:srgbClr val="C039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Key Components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2194560" cy="12801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sec_client.py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SEC EDGAR API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Ticker-&gt;CIK mapping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Rate limiting (10 req/s)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657600"/>
            <a:ext cx="2194560" cy="12801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parser.py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SGML/HTML parsing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Markdown conversion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20+ transformations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657600"/>
            <a:ext cx="2194560" cy="12801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chunker.py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Page-based splitting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Size enforcement (4MB)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200-char overlap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657600"/>
            <a:ext cx="2194560" cy="12801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state_manager.py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SQLite state tracking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Resume capability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Checkpointing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3657600"/>
            <a:ext cx="2194560" cy="12801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graph_client.py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MSAL auth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Batch uploads (20/req)</a:t>
            </a:r>
          </a:p>
          <a:p>
            <a:pPr algn="ctr">
              <a:defRPr sz="900">
                <a:solidFill>
                  <a:srgbClr val="808080"/>
                </a:solidFill>
              </a:defRPr>
            </a:pPr>
            <a:r>
              <a:t>429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Graph Schema Properties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406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Title | Company | Ticker | Form | FilingDate | Description | Url | CIK | AccessionNumber |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120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Tech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4406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aiohttp | BeautifulSoup | markdownify | MSAL | Pydantic | aiosqlite | Click/Rich CLI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80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7C41"/>
                </a:solidFill>
              </a:defRPr>
            </a:pPr>
            <a:r>
              <a:t>Robustness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55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Exponential backoff (5 retries) | SQLite checkpointing | SEC rate limit (10/s) | Graph 429 handling | Error isolation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Improvements Over PowerShell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7C41"/>
                </a:solidFill>
              </a:defRPr>
            </a:pPr>
            <a:r>
              <a:t>Key Improvements (vs Lumen-SEC PowerShell)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    Feature                           PowerShell (Before)                                         Python (After)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Table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17320"/>
            <a:ext cx="4389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0000"/>
                </a:solidFill>
              </a:defRPr>
            </a:pPr>
            <a:r>
              <a:t>Raw HTML tags (&lt;table&gt;&lt;tr&gt;&lt;td&gt;)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417320"/>
            <a:ext cx="4846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7C41"/>
                </a:solidFill>
              </a:defRPr>
            </a:pPr>
            <a:r>
              <a:t>Markdown tables (| Revenue | 394,328 |)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46504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Content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746504"/>
            <a:ext cx="4389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0000"/>
                </a:solidFill>
              </a:defRPr>
            </a:pPr>
            <a:r>
              <a:t>Residual HTML in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46504"/>
            <a:ext cx="4846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7C41"/>
                </a:solidFill>
              </a:defRPr>
            </a:pPr>
            <a:r>
              <a:t>Clean Markdown, no HTML noise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75688"/>
            <a:ext cx="11430000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75688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Parsing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075688"/>
            <a:ext cx="4389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0000"/>
                </a:solidFill>
              </a:defRPr>
            </a:pPr>
            <a:r>
              <a:t>25+ regex replacements (fragile)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75688"/>
            <a:ext cx="4846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7C41"/>
                </a:solidFill>
              </a:defRPr>
            </a:pPr>
            <a:r>
              <a:t>DOM-based BeautifulSoup (robust)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04872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Chunk Sizing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404872"/>
            <a:ext cx="4389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0000"/>
                </a:solidFill>
              </a:defRPr>
            </a:pPr>
            <a:r>
              <a:t>No size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04872"/>
            <a:ext cx="4846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7C41"/>
                </a:solidFill>
              </a:defRPr>
            </a:pPr>
            <a:r>
              <a:t>4MB limit enforced, recursive split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34056"/>
            <a:ext cx="11430000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34056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Context Overlap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734056"/>
            <a:ext cx="4389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0000"/>
                </a:solidFill>
              </a:defRPr>
            </a:pPr>
            <a:r>
              <a:t>Hard page boundary cuts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734056"/>
            <a:ext cx="4846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7C41"/>
                </a:solidFill>
              </a:defRPr>
            </a:pPr>
            <a:r>
              <a:t>200-char overlap for continuity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063239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State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063239"/>
            <a:ext cx="4389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00000"/>
                </a:solidFill>
              </a:defRPr>
            </a:pPr>
            <a:r>
              <a:t>Flat processed_ids.txt 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063239"/>
            <a:ext cx="4846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7C41"/>
                </a:solidFill>
              </a:defRPr>
            </a:pPr>
            <a:r>
              <a:t>SQLite state machine with checkpoints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520440"/>
            <a:ext cx="5669280" cy="10515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7C41"/>
                </a:solidFill>
              </a:defRPr>
            </a:pPr>
            <a:r>
              <a:t>Why Tables Matter</a:t>
            </a:r>
          </a:p>
          <a:p>
            <a:pPr>
              <a:defRPr sz="1000">
                <a:solidFill>
                  <a:srgbClr val="003366"/>
                </a:solidFill>
              </a:defRPr>
            </a:pPr>
            <a:r>
              <a:t>SEC 10-K/10-Q are 40-60% tabular financial data. Markdown tables preserve label-to-value relationships for LLM reasoning:</a:t>
            </a:r>
          </a:p>
          <a:p>
            <a:pPr>
              <a:defRPr sz="1000" i="1">
                <a:solidFill>
                  <a:srgbClr val="808080"/>
                </a:solidFill>
              </a:defRPr>
            </a:pPr>
            <a:r>
              <a:t>"What was Apple's revenue?" -&gt; | Revenue | 394,328 |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5204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8D4"/>
                </a:solidFill>
              </a:defRPr>
            </a:pPr>
            <a:r>
              <a:t>Capabilities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84048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003366"/>
                </a:solidFill>
              </a:defRPr>
            </a:pPr>
            <a:r>
              <a:t>  Multi-ticker batch processing</a:t>
            </a:r>
          </a:p>
          <a:p>
            <a:pPr>
              <a:spcBef>
                <a:spcPts val="300"/>
              </a:spcBef>
              <a:defRPr sz="1100">
                <a:solidFill>
                  <a:srgbClr val="003366"/>
                </a:solidFill>
              </a:defRPr>
            </a:pPr>
            <a:r>
              <a:t>  Async downloads (5 concurrent)</a:t>
            </a:r>
          </a:p>
          <a:p>
            <a:pPr>
              <a:spcBef>
                <a:spcPts val="300"/>
              </a:spcBef>
              <a:defRPr sz="1100">
                <a:solidFill>
                  <a:srgbClr val="003366"/>
                </a:solidFill>
              </a:defRPr>
            </a:pPr>
            <a:r>
              <a:t>  Resume from any failure point</a:t>
            </a:r>
          </a:p>
          <a:p>
            <a:pPr>
              <a:spcBef>
                <a:spcPts val="300"/>
              </a:spcBef>
              <a:defRPr sz="1100">
                <a:solidFill>
                  <a:srgbClr val="003366"/>
                </a:solidFill>
              </a:defRPr>
            </a:pPr>
            <a:r>
              <a:t>  Test mode for quick validation</a:t>
            </a:r>
          </a:p>
          <a:p>
            <a:pPr>
              <a:spcBef>
                <a:spcPts val="300"/>
              </a:spcBef>
              <a:defRPr sz="1100">
                <a:solidFill>
                  <a:srgbClr val="003366"/>
                </a:solidFill>
              </a:defRPr>
            </a:pPr>
            <a:r>
              <a:t>  Progress bars &amp; rich CLI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754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Flexibility &amp; Configuration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7492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Forms: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07492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10-K, 10-Q, 8-K, DEF 14A (configurable in YAML)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330952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Chunking: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330952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target_size, max_size, overlap - all tunable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586983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Connections: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586983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Multiple connectors with different connection IDs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843016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t>Payloads: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843016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--save-payloads flag to inspect content before upload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754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6464"/>
                </a:solidFill>
              </a:defRPr>
            </a:pPr>
            <a:r>
              <a:t>CLI Commands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074920"/>
            <a:ext cx="5486400" cy="1051560"/>
          </a:xfrm>
          <a:prstGeom prst="round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1100">
                <a:solidFill>
                  <a:srgbClr val="98C379"/>
                </a:solidFill>
                <a:latin typeface="Consolas"/>
              </a:defRPr>
            </a:pPr>
            <a:r>
              <a:t>&gt; sec-connector setup</a:t>
            </a:r>
          </a:p>
          <a:p>
            <a:pPr>
              <a:spcBef>
                <a:spcPts val="200"/>
              </a:spcBef>
              <a:defRPr sz="1100">
                <a:solidFill>
                  <a:srgbClr val="98C379"/>
                </a:solidFill>
                <a:latin typeface="Consolas"/>
              </a:defRPr>
            </a:pPr>
            <a:r>
              <a:t>&gt; sec-connector ingest -t AAPL --test</a:t>
            </a:r>
          </a:p>
          <a:p>
            <a:pPr>
              <a:spcBef>
                <a:spcPts val="200"/>
              </a:spcBef>
              <a:defRPr sz="1100">
                <a:solidFill>
                  <a:srgbClr val="98C379"/>
                </a:solidFill>
                <a:latin typeface="Consolas"/>
              </a:defRPr>
            </a:pPr>
            <a:r>
              <a:t>&gt; sec-connector status</a:t>
            </a:r>
          </a:p>
          <a:p>
            <a:pPr>
              <a:spcBef>
                <a:spcPts val="200"/>
              </a:spcBef>
              <a:defRPr sz="1100">
                <a:solidFill>
                  <a:srgbClr val="98C379"/>
                </a:solidFill>
                <a:latin typeface="Consolas"/>
              </a:defRPr>
            </a:pPr>
            <a:r>
              <a:t>&gt; sec-connector resume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6172200"/>
            <a:ext cx="11430000" cy="5486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003366"/>
                </a:solidFill>
              </a:defRPr>
            </a:pPr>
            <a:r>
              <a:t>Quick Start:  pip install -e .  -&gt;  Set AZURE_* env vars  -&gt;  sec-connector setup  -&gt;  sec-connector ingest -t AAPL --test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